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5" r:id="rId1"/>
  </p:sldMasterIdLst>
  <p:sldIdLst>
    <p:sldId id="256" r:id="rId2"/>
    <p:sldId id="277" r:id="rId3"/>
    <p:sldId id="278" r:id="rId4"/>
    <p:sldId id="258" r:id="rId5"/>
    <p:sldId id="259" r:id="rId6"/>
    <p:sldId id="280" r:id="rId7"/>
    <p:sldId id="257" r:id="rId8"/>
    <p:sldId id="265" r:id="rId9"/>
    <p:sldId id="264" r:id="rId10"/>
    <p:sldId id="267" r:id="rId11"/>
    <p:sldId id="268" r:id="rId12"/>
    <p:sldId id="269" r:id="rId13"/>
    <p:sldId id="270" r:id="rId14"/>
    <p:sldId id="271" r:id="rId15"/>
    <p:sldId id="272" r:id="rId16"/>
    <p:sldId id="279" r:id="rId17"/>
    <p:sldId id="276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arideep aepuri" initials="ha" lastIdx="5" clrIdx="0">
    <p:extLst>
      <p:ext uri="{19B8F6BF-5375-455C-9EA6-DF929625EA0E}">
        <p15:presenceInfo xmlns:p15="http://schemas.microsoft.com/office/powerpoint/2012/main" userId="8ea6a74820eae0c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20" autoAdjust="0"/>
  </p:normalViewPr>
  <p:slideViewPr>
    <p:cSldViewPr snapToGrid="0">
      <p:cViewPr varScale="1">
        <p:scale>
          <a:sx n="77" d="100"/>
          <a:sy n="77" d="100"/>
        </p:scale>
        <p:origin x="2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93397-98A5-CEE2-1F19-7222102236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1F9C922-A6BA-852B-22BE-C7DEFC416B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49E7AA-0E7B-1C49-3650-0FBA92F06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9F1B9-4B2E-4982-B5D0-6695123FEFB8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41437D-EB4A-B1A5-CAC3-F0500E0761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64308D-27BB-7BE1-2ED8-E7CF2EAC4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7F53C-BD05-4CB4-928D-D3C761F27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6578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2AD51-038A-B10B-D9A6-FEF9A8114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2FD15-6666-FB31-958E-DDF5F5EB13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488932-BFA2-2767-6B33-1E7487E04F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9F1B9-4B2E-4982-B5D0-6695123FEFB8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AF3689-4628-5436-FBC0-000B799204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D8E9F-0768-CFAA-A69C-BCF735E6D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7F53C-BD05-4CB4-928D-D3C761F27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080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58A18-EC3F-BC69-23F9-B55267F9C4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A57618-AD90-C481-E732-2BBDB61F35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D50563-29AB-2592-B316-697AF62CD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9F1B9-4B2E-4982-B5D0-6695123FEFB8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53703A-0D02-7A52-882E-9C23886F1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9CEFB7-DB3A-1D40-E50E-0558534CB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7F53C-BD05-4CB4-928D-D3C761F27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2868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53F63-F48F-35E6-1060-C96B32200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6983F6-AC75-CBEB-BE4A-846DB6EC00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F3C698-0CB1-0153-F1E8-A42E4E24DE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C22A9A-00F5-529F-325B-E92BE2617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9F1B9-4B2E-4982-B5D0-6695123FEFB8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B8EE81-2536-CF24-DC84-D7DB721E4E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1F8101-3882-25E8-54A3-57F5B0DA4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7F53C-BD05-4CB4-928D-D3C761F27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739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327D1-71F6-0F57-2F5B-AA9F83691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EA5643-6926-DC6C-F766-A9C05810B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381D98-A9CB-5DBE-309C-5631A0491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DB0BF4-ACD5-711D-BCDF-9D002102CA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4DC0A-6C9F-9414-261C-CCF1C33DFC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E2CFEF0-EF93-5E7F-8F3F-E6F749CB0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9F1B9-4B2E-4982-B5D0-6695123FEFB8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86E0207-D52E-DB39-D5DD-03A452EE0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8BA78FD-A032-83DB-1FC9-A7F59C109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7F53C-BD05-4CB4-928D-D3C761F27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5198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D1AAE-7531-00C1-0929-AC3F9CADB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A8A7AD-E4A2-942C-98B2-2A64A0E1BE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9F1B9-4B2E-4982-B5D0-6695123FEFB8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485479-5430-F307-5DFC-AFC27EF06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50724D-588F-0789-4B6E-355556E3F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7F53C-BD05-4CB4-928D-D3C761F27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8941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86C943-F1E4-6548-00AB-395142FB1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9F1B9-4B2E-4982-B5D0-6695123FEFB8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4897087-2F85-E10B-0E2C-218C858CE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2E9699-6685-C954-A90C-DCC83B217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7F53C-BD05-4CB4-928D-D3C761F27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78784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A5A2B-AFAC-5A3C-7600-FF57293524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DADD28-6E3A-1989-1B6F-82B2924D0E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D9DBBE-9DA2-5C8D-6A98-A96F3B12A3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260607-350A-AAC9-AAD1-46F20E4F25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9F1B9-4B2E-4982-B5D0-6695123FEFB8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54BFB5-67F7-BFF7-0943-46743EC798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70C4D3-9DA4-8A32-E0FE-FB9F96563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7F53C-BD05-4CB4-928D-D3C761F27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7216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5D265-5C63-ECCD-0C12-56D602F23A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4BA7C60-F0E5-68F5-E8EB-CB744A9AF8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A70192-7917-A468-FDA4-C1D83A3F95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753602-35D5-2DC8-E107-D1896AC71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9F1B9-4B2E-4982-B5D0-6695123FEFB8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5CE544-EC3F-84EC-FA66-352F335A3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0B1009-4328-E20E-796B-66AE2FC69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7F53C-BD05-4CB4-928D-D3C761F27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6284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211C2-F27F-9733-A61D-4CE4E5CAE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2E26E5-BB61-7D67-50F3-BE0F2B6C1E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95FCB-E633-733F-59F3-CDBAAD34B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9F1B9-4B2E-4982-B5D0-6695123FEFB8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99AE68-2819-3A64-DA0B-1C70946D4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C793A0-E522-53B1-6C6D-98EF0F127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7F53C-BD05-4CB4-928D-D3C761F27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6676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BB8AC9-CFFD-D3F8-FEE5-DA27E8114B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0E57F8-9266-95F3-1814-8F66A065C9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E137A5-7B14-BAB0-3DDB-671A62919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9F1B9-4B2E-4982-B5D0-6695123FEFB8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25B7BA-8383-42EB-1CBC-2C85F53FB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83362F-208D-C445-9D2A-6B2D95695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7F53C-BD05-4CB4-928D-D3C761F27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644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A64D4F-D27F-7A00-827B-BA54BA351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1F0D49-420C-C0F1-D5D7-979932BC7E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640E38-EBE3-99EA-41ED-2CB46FC85A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79F1B9-4B2E-4982-B5D0-6695123FEFB8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FB2578-F897-7BAF-F4F1-0360683ACA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3C28D4-DB90-40B0-A276-4B0BA359CA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87F53C-BD05-4CB4-928D-D3C761F27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8390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6" r:id="rId1"/>
    <p:sldLayoutId id="2147483827" r:id="rId2"/>
    <p:sldLayoutId id="2147483828" r:id="rId3"/>
    <p:sldLayoutId id="2147483829" r:id="rId4"/>
    <p:sldLayoutId id="2147483830" r:id="rId5"/>
    <p:sldLayoutId id="2147483831" r:id="rId6"/>
    <p:sldLayoutId id="2147483832" r:id="rId7"/>
    <p:sldLayoutId id="2147483833" r:id="rId8"/>
    <p:sldLayoutId id="2147483834" r:id="rId9"/>
    <p:sldLayoutId id="2147483835" r:id="rId10"/>
    <p:sldLayoutId id="214748383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FCFDB-A2ED-EFFF-3FA3-E69FE55BF3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00892"/>
            <a:ext cx="9144000" cy="3343580"/>
          </a:xfrm>
        </p:spPr>
        <p:txBody>
          <a:bodyPr>
            <a:no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Forecasting cryptocurrency price Trends using ARIMA and LSTM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303F68-1CA8-9C07-B289-446AC00D5DA9}"/>
              </a:ext>
            </a:extLst>
          </p:cNvPr>
          <p:cNvSpPr txBox="1"/>
          <p:nvPr/>
        </p:nvSpPr>
        <p:spPr>
          <a:xfrm>
            <a:off x="2335876" y="4696691"/>
            <a:ext cx="17251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Harideep Aepuri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3047113</a:t>
            </a:r>
          </a:p>
        </p:txBody>
      </p:sp>
    </p:spTree>
    <p:extLst>
      <p:ext uri="{BB962C8B-B14F-4D97-AF65-F5344CB8AC3E}">
        <p14:creationId xmlns:p14="http://schemas.microsoft.com/office/powerpoint/2010/main" val="20222738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4EA41-6037-C65F-2764-32F1F9E1B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8116E8-D0D7-3076-26F8-A7D8C516B1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2251"/>
            <a:ext cx="4714702" cy="43513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 prices will fluctuate based on market demand.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project focus on predicting bitcoin prices.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used two different approach's ARIMA a statistical model which is used to capture trends and another one is LSTM deep learning model to learn complex patterns</a:t>
            </a:r>
          </a:p>
        </p:txBody>
      </p:sp>
      <p:pic>
        <p:nvPicPr>
          <p:cNvPr id="1026" name="Picture 2" descr="Exploring the Post-crash Cryptocurrency Market | Toptal®">
            <a:extLst>
              <a:ext uri="{FF2B5EF4-FFF2-40B4-BE49-F238E27FC236}">
                <a16:creationId xmlns:a16="http://schemas.microsoft.com/office/drawing/2014/main" id="{D8AEECCE-4094-25B6-C174-AD8EF47517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315"/>
                    </a14:imgEffect>
                    <a14:imgEffect>
                      <a14:saturation sa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9623" y="1842251"/>
            <a:ext cx="5184370" cy="41407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27148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E10D0-6584-58DC-101F-E14CAF00B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8DEA57-413E-45C1-4023-5D21EBE827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764" y="1243441"/>
            <a:ext cx="7129569" cy="503419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 prices are highly volatile and prices can change rapidly over the time which makes the price prediction challenging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traditional methods are struggle to capture the sudden changes.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is a need to evaluate the models which can handle both trend and fluctuations 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this Project I will compare both models to identify the better performing model for prediction 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080778B4-3A12-27A3-28A8-7AB931B777D7}"/>
              </a:ext>
            </a:extLst>
          </p:cNvPr>
          <p:cNvSpPr/>
          <p:nvPr/>
        </p:nvSpPr>
        <p:spPr>
          <a:xfrm>
            <a:off x="8903334" y="3326079"/>
            <a:ext cx="1811867" cy="60955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Prediction challenging</a:t>
            </a:r>
            <a:endParaRPr lang="en-US" dirty="0"/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B48102F0-0BF6-4C72-63BE-DB5BCBAE13BA}"/>
              </a:ext>
            </a:extLst>
          </p:cNvPr>
          <p:cNvSpPr/>
          <p:nvPr/>
        </p:nvSpPr>
        <p:spPr>
          <a:xfrm>
            <a:off x="9716135" y="1839681"/>
            <a:ext cx="160865" cy="3810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7ED1921E-BA63-ED48-393C-85262E3F2590}"/>
              </a:ext>
            </a:extLst>
          </p:cNvPr>
          <p:cNvSpPr/>
          <p:nvPr/>
        </p:nvSpPr>
        <p:spPr>
          <a:xfrm>
            <a:off x="9718027" y="2933324"/>
            <a:ext cx="160865" cy="3810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6B24AC5-A670-8006-4E25-2F4DFCC687C4}"/>
              </a:ext>
            </a:extLst>
          </p:cNvPr>
          <p:cNvSpPr/>
          <p:nvPr/>
        </p:nvSpPr>
        <p:spPr>
          <a:xfrm>
            <a:off x="8903334" y="4440394"/>
            <a:ext cx="1811867" cy="6533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 methods</a:t>
            </a:r>
            <a:endParaRPr lang="en-US" dirty="0"/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EF0D4E1D-3992-64CE-E6F7-09897F2D56DF}"/>
              </a:ext>
            </a:extLst>
          </p:cNvPr>
          <p:cNvSpPr/>
          <p:nvPr/>
        </p:nvSpPr>
        <p:spPr>
          <a:xfrm>
            <a:off x="9712531" y="4011468"/>
            <a:ext cx="160865" cy="3810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Arrow: Down 26">
            <a:extLst>
              <a:ext uri="{FF2B5EF4-FFF2-40B4-BE49-F238E27FC236}">
                <a16:creationId xmlns:a16="http://schemas.microsoft.com/office/drawing/2014/main" id="{FFB36D23-0E29-F6E5-40D5-BBCD6B1336CD}"/>
              </a:ext>
            </a:extLst>
          </p:cNvPr>
          <p:cNvSpPr/>
          <p:nvPr/>
        </p:nvSpPr>
        <p:spPr>
          <a:xfrm>
            <a:off x="9716133" y="5166075"/>
            <a:ext cx="160865" cy="3810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CD1CC410-7228-6D8D-5768-85677082727D}"/>
              </a:ext>
            </a:extLst>
          </p:cNvPr>
          <p:cNvSpPr/>
          <p:nvPr/>
        </p:nvSpPr>
        <p:spPr>
          <a:xfrm>
            <a:off x="8903334" y="5570586"/>
            <a:ext cx="1811867" cy="4412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Best Model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33B3B0A4-839A-F3DF-60B7-9323D78ADF03}"/>
              </a:ext>
            </a:extLst>
          </p:cNvPr>
          <p:cNvSpPr/>
          <p:nvPr/>
        </p:nvSpPr>
        <p:spPr>
          <a:xfrm>
            <a:off x="8887029" y="1192208"/>
            <a:ext cx="1811867" cy="60955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 Prices</a:t>
            </a:r>
            <a:endParaRPr lang="en-US" dirty="0"/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65C7BB7B-7652-1BFB-BD51-60AC58CDBD0A}"/>
              </a:ext>
            </a:extLst>
          </p:cNvPr>
          <p:cNvSpPr/>
          <p:nvPr/>
        </p:nvSpPr>
        <p:spPr>
          <a:xfrm>
            <a:off x="8903334" y="2284678"/>
            <a:ext cx="1811867" cy="60955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Highly volatile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01237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D361D-CE24-3D76-5E53-27A688E44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Data Collection and Cleaning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2C9BDA-3ED8-E02F-0F65-552BA66D84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lnSpc>
                <a:spcPct val="100000"/>
              </a:lnSpc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Bitcoin Data was collected using Binance API</a:t>
            </a:r>
          </a:p>
          <a:p>
            <a:pPr>
              <a:lnSpc>
                <a:spcPct val="10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collected was in BTC/USD which has interval of 1-minute and duration of 60 days around 80000 records </a:t>
            </a:r>
          </a:p>
          <a:p>
            <a:pPr>
              <a:lnSpc>
                <a:spcPct val="10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dataset has features like open, High, Low, Close , volume, open time, close time, Quote asset volume, Number of trades"</a:t>
            </a:r>
          </a:p>
          <a:p>
            <a:pPr>
              <a:lnSpc>
                <a:spcPct val="10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UNIX timestamp conversation of data to date and time format</a:t>
            </a:r>
          </a:p>
          <a:p>
            <a:pPr>
              <a:lnSpc>
                <a:spcPct val="10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Converted the variables like OHLC and volume to numeric format and removed the unnecessary columns</a:t>
            </a:r>
          </a:p>
          <a:p>
            <a:pPr>
              <a:lnSpc>
                <a:spcPct val="10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Checked for duplicate and missing values in data and prepared data for both ARIMA and LSTM models</a:t>
            </a:r>
          </a:p>
          <a:p>
            <a:pPr>
              <a:lnSpc>
                <a:spcPct val="100000"/>
              </a:lnSpc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8761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B4E96-1DB8-5857-D168-EFA8AE017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10699222" cy="905819"/>
          </a:xfrm>
        </p:spPr>
        <p:txBody>
          <a:bodyPr>
            <a:no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Exploratory Data Analysis-Trend and Stationarity Insights 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17FE637A-4221-DE4C-9405-F5C87CC1B7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79664" y="1265465"/>
            <a:ext cx="11129736" cy="35759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9552E06-17EF-0E4E-E86A-AF8435641A65}"/>
              </a:ext>
            </a:extLst>
          </p:cNvPr>
          <p:cNvSpPr txBox="1"/>
          <p:nvPr/>
        </p:nvSpPr>
        <p:spPr>
          <a:xfrm>
            <a:off x="963611" y="5269369"/>
            <a:ext cx="100642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the Graph the bitcoin close prices are fluctuating rapidly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is no constant mean the values are shifting across ranges</a:t>
            </a:r>
          </a:p>
        </p:txBody>
      </p:sp>
    </p:spTree>
    <p:extLst>
      <p:ext uri="{BB962C8B-B14F-4D97-AF65-F5344CB8AC3E}">
        <p14:creationId xmlns:p14="http://schemas.microsoft.com/office/powerpoint/2010/main" val="40445130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57FA1-2F66-D122-E837-5EBF0FD48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4964BB2-296C-2302-E3DB-0DD5A6BA59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002" y="787038"/>
            <a:ext cx="10292140" cy="365433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0F83EB9-34FD-28CB-3108-647C8A155916}"/>
              </a:ext>
            </a:extLst>
          </p:cNvPr>
          <p:cNvSpPr txBox="1"/>
          <p:nvPr/>
        </p:nvSpPr>
        <p:spPr>
          <a:xfrm>
            <a:off x="1115786" y="4963885"/>
            <a:ext cx="947057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the rolling mean and standard deviation graph both mean and standard deviation are changing continuously.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Which indicates the data is non-stationary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07504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8A1D0-B3D5-918E-EE23-15E927D7C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Stationarity Test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69F6F0-93F6-0515-BB21-62F612B5C7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950719"/>
            <a:ext cx="5458097" cy="4226243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Initially the EDA shows bitcoin data is not stationary due to price fluctuations.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test the data is stationary or not , applied  Augmented Dickey-Fuller (ADF) test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original close price series showed a p-value of 0.0008, which is less than 0.05, indicating that the data is stationary.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Further after Appling the differencing resulting in lower p-value 0.00 confirms the data is strong stationary suitable for time series modelling.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B32E73-3CA2-329B-D942-0DF75F8586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5809" y="3758830"/>
            <a:ext cx="3693735" cy="16230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20C265-F62C-81AE-B75F-6B1B89D1FB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5809" y="1950719"/>
            <a:ext cx="3796405" cy="1422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9952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6E437D-0F40-2CDE-2226-5490A0790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3200"/>
            <a:ext cx="10515600" cy="1049868"/>
          </a:xfrm>
        </p:spPr>
        <p:txBody>
          <a:bodyPr>
            <a:no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ACF &amp; PACF Analysis for ARIMA parameter Selection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D271AF2-A138-BF2C-46ED-382AC432AF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4687" y="1051859"/>
            <a:ext cx="10515600" cy="33762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9702DF6-9DDA-D91A-130C-D5A72F11A6E4}"/>
              </a:ext>
            </a:extLst>
          </p:cNvPr>
          <p:cNvSpPr txBox="1"/>
          <p:nvPr/>
        </p:nvSpPr>
        <p:spPr>
          <a:xfrm>
            <a:off x="556953" y="4623475"/>
            <a:ext cx="497932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ACF plot shows Some strong correlation across many lags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Which indicates the past values highly influence on current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this graph is shows there is no sharp cut off so the moving average component is set to q = 0.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179F8A-891D-7BCB-95EA-F4EC3D7239DA}"/>
              </a:ext>
            </a:extLst>
          </p:cNvPr>
          <p:cNvSpPr txBox="1"/>
          <p:nvPr/>
        </p:nvSpPr>
        <p:spPr>
          <a:xfrm>
            <a:off x="5536277" y="4623475"/>
            <a:ext cx="598516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PACF which shows a sharp spike at lag 1 then drops to zero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Since previous value directly influence the current value so p=1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Applied differencing to make the data stationary  is d=1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Initial ARIMA model is set to (</a:t>
            </a:r>
            <a:r>
              <a:rPr lang="en-US" dirty="0" err="1"/>
              <a:t>p,d,q</a:t>
            </a:r>
            <a:r>
              <a:rPr lang="en-US" dirty="0"/>
              <a:t>)-(1,1,0)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18190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F6F4A-8A58-D7FF-D624-BA66079EB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ARIMA Model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481E9-8573-CF7D-D382-B4178B12F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974" y="1690688"/>
            <a:ext cx="6393110" cy="43513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Then the dataset was split into training(69081 ,80.0%) and testing (17271 ,20.0%)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Initial ARIMA parameters are identified based  on ACF and PACF ARIMA(1,1,0)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Hyperparameter Tuning performed different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p,d,q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combinations 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Final ARIMA(0,1,0)  model selected based on lower RMSE 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Predictions were generated on test data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E702AE4-5949-BA9E-DE88-68BAF99010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6600" y="1432508"/>
            <a:ext cx="5105400" cy="2952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308563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31EF3-CE5B-2B2A-9788-51CC74B54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Performance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72C9B-5D4C-B38B-450F-6F607393D5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Evaluated using MAE,RMSE and MAPE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MAE and RMSE may appear large but they are small when compared to overall bitcoin prices and low MAPE will indicates high prediction accuracy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F1C118-DAEC-3C4F-A629-5BB13A1F1C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0799082"/>
              </p:ext>
            </p:extLst>
          </p:nvPr>
        </p:nvGraphicFramePr>
        <p:xfrm>
          <a:off x="993338" y="3746817"/>
          <a:ext cx="8128000" cy="11259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021031426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756396082"/>
                    </a:ext>
                  </a:extLst>
                </a:gridCol>
              </a:tblGrid>
              <a:tr h="375309">
                <a:tc>
                  <a:txBody>
                    <a:bodyPr/>
                    <a:lstStyle/>
                    <a:p>
                      <a:r>
                        <a:rPr lang="en-US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466.92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6714664"/>
                  </a:ext>
                </a:extLst>
              </a:tr>
              <a:tr h="375309">
                <a:tc>
                  <a:txBody>
                    <a:bodyPr/>
                    <a:lstStyle/>
                    <a:p>
                      <a:r>
                        <a:rPr lang="en-US" dirty="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577.49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9951023"/>
                  </a:ext>
                </a:extLst>
              </a:tr>
              <a:tr h="375309">
                <a:tc>
                  <a:txBody>
                    <a:bodyPr/>
                    <a:lstStyle/>
                    <a:p>
                      <a:r>
                        <a:rPr lang="en-US" dirty="0"/>
                        <a:t>MAPE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996871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C5BB53D-E7E3-4E72-F72B-A0779B01A7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6552821"/>
              </p:ext>
            </p:extLst>
          </p:nvPr>
        </p:nvGraphicFramePr>
        <p:xfrm>
          <a:off x="993338" y="3246120"/>
          <a:ext cx="8128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0">
                  <a:extLst>
                    <a:ext uri="{9D8B030D-6E8A-4147-A177-3AD203B41FA5}">
                      <a16:colId xmlns:a16="http://schemas.microsoft.com/office/drawing/2014/main" val="695156311"/>
                    </a:ext>
                  </a:extLst>
                </a:gridCol>
              </a:tblGrid>
              <a:tr h="33891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Model Performance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85369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24372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B7FB743-EDE4-FE89-D2F1-31B04806DB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0086" y="283130"/>
            <a:ext cx="10515600" cy="36932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D43644F-8D63-A681-5BC2-C74677477554}"/>
              </a:ext>
            </a:extLst>
          </p:cNvPr>
          <p:cNvSpPr txBox="1"/>
          <p:nvPr/>
        </p:nvSpPr>
        <p:spPr>
          <a:xfrm>
            <a:off x="780176" y="3800213"/>
            <a:ext cx="1093924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Arima graph showing a flat line because during model Tuning the best model selected as ARIMA(0,1,0) which indicates model relies on differencing d=1 and no moving component(MA) and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AutoRegressive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component (AR)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ARIMA model performs well in capturing the overall price level, but it does not accurately capture short-term fluctuations due to the high volatility of cryptocurrency markets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83765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B0AF6-E1C4-383D-6827-2E8A2AB1F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LSTM Model Development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144DC1-5A10-1A0C-F94E-44DE29CF567A}"/>
              </a:ext>
            </a:extLst>
          </p:cNvPr>
          <p:cNvSpPr txBox="1"/>
          <p:nvPr/>
        </p:nvSpPr>
        <p:spPr>
          <a:xfrm>
            <a:off x="1023457" y="1912690"/>
            <a:ext cx="46726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Here I used 2 LSTM layers of 50 units each with dropout 0.2 which reduce overfitting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model was trained on Adam optimizer and MSE loss function with 32 batch size , 50 epochs and 10% split validation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the graph both  training and validation loss decreases consistently, which shows the model is learning patterns effectively.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Also, both curves are closer to each other which indicating good generalization and no overfitting which shows the model is well trained for prediction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FA17ED-9D6E-D652-EBED-36978E88E1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3618" y="1362604"/>
            <a:ext cx="5636029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4438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F9D61-D4F1-0392-B8DC-F1A8CB2FF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LSTM Model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AAD1CA-DAA7-B5F7-D2F2-C5573D2CC8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LSTM is evaluated using MAE, RMSE, and MAPE </a:t>
            </a:r>
          </a:p>
          <a:p>
            <a:pPr>
              <a:lnSpc>
                <a:spcPct val="10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values indicating predictions are very closer to actual values </a:t>
            </a:r>
          </a:p>
          <a:p>
            <a:pPr marL="0" indent="0">
              <a:lnSpc>
                <a:spcPct val="100000"/>
              </a:lnSpc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96DCE86-9D0A-E38D-5DDF-01813BF5D8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1464686"/>
              </p:ext>
            </p:extLst>
          </p:nvPr>
        </p:nvGraphicFramePr>
        <p:xfrm>
          <a:off x="1000154" y="4060922"/>
          <a:ext cx="8128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996233676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722568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64.41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689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96.36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1490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8636385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9E7AF3E-E501-FB61-382E-7D6BF59DEF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6871321"/>
              </p:ext>
            </p:extLst>
          </p:nvPr>
        </p:nvGraphicFramePr>
        <p:xfrm>
          <a:off x="1000154" y="3630454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0">
                  <a:extLst>
                    <a:ext uri="{9D8B030D-6E8A-4147-A177-3AD203B41FA5}">
                      <a16:colId xmlns:a16="http://schemas.microsoft.com/office/drawing/2014/main" val="12150099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Model Performance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28878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75746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88A2D-A1B7-AB00-3ACD-B46645257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LSTM Actual vs Predicted graph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5F67A7F-9977-8D26-2413-D3F6DCCA10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475" y="1342238"/>
            <a:ext cx="10515600" cy="359887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D345684-8889-E9A7-09EE-8443504A90B5}"/>
              </a:ext>
            </a:extLst>
          </p:cNvPr>
          <p:cNvSpPr txBox="1"/>
          <p:nvPr/>
        </p:nvSpPr>
        <p:spPr>
          <a:xfrm>
            <a:off x="1300293" y="5103674"/>
            <a:ext cx="84586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above graph shows LSTM model predictions closely follows the actual bitcoin prices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model is capturing well in both trend and short-term fluctuations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model is adapting to sudden changes </a:t>
            </a:r>
          </a:p>
        </p:txBody>
      </p:sp>
    </p:spTree>
    <p:extLst>
      <p:ext uri="{BB962C8B-B14F-4D97-AF65-F5344CB8AC3E}">
        <p14:creationId xmlns:p14="http://schemas.microsoft.com/office/powerpoint/2010/main" val="31504326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BC6A9-8CD5-9090-0C9B-A7CBE4D71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Performance (ARIMA vs LSTM)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2CFB731E-46FF-462D-C960-C5EA9D8890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3399" y="1396275"/>
            <a:ext cx="10452682" cy="321767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0229681-EE9C-4BAB-798F-FF7FCB73ECD3}"/>
              </a:ext>
            </a:extLst>
          </p:cNvPr>
          <p:cNvSpPr txBox="1"/>
          <p:nvPr/>
        </p:nvSpPr>
        <p:spPr>
          <a:xfrm>
            <a:off x="763399" y="4714613"/>
            <a:ext cx="1078824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Arima produces both smooth and stable patterns and capturing overall trend in bitcoin prices but limited responses for short-term fluctuations.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 other-side LSTM is closely capturing both trend and fluctuations the model is adapting to sudden changes</a:t>
            </a:r>
          </a:p>
        </p:txBody>
      </p:sp>
    </p:spTree>
    <p:extLst>
      <p:ext uri="{BB962C8B-B14F-4D97-AF65-F5344CB8AC3E}">
        <p14:creationId xmlns:p14="http://schemas.microsoft.com/office/powerpoint/2010/main" val="24869441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8EA8B-321F-53A1-27BA-35C4CC13F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D9B02F-6E45-8129-5BED-587E58ED13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this project I have Implemented ARIMA and LSTM models</a:t>
            </a:r>
          </a:p>
          <a:p>
            <a:pPr>
              <a:lnSpc>
                <a:spcPct val="10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ARIMA performed well in capturing overall Trends</a:t>
            </a:r>
          </a:p>
          <a:p>
            <a:pPr>
              <a:lnSpc>
                <a:spcPct val="10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LSTM addressed limitations of ARIMA by capturing both trends and fluctuations </a:t>
            </a:r>
          </a:p>
          <a:p>
            <a:pPr>
              <a:lnSpc>
                <a:spcPct val="10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performance metrics showed LSTM have low error values</a:t>
            </a:r>
          </a:p>
          <a:p>
            <a:pPr>
              <a:lnSpc>
                <a:spcPct val="10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ARIMA provides a strong baseline for time series analysis </a:t>
            </a:r>
          </a:p>
          <a:p>
            <a:pPr>
              <a:lnSpc>
                <a:spcPct val="10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LSTM is more suitable for real-time cryptocurrency price forecasting since it has ability to handle complex and dynamic market behavior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298018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11347-3A59-3561-C55F-90EF87723D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570162"/>
          </a:xfrm>
        </p:spPr>
        <p:txBody>
          <a:bodyPr/>
          <a:lstStyle/>
          <a:p>
            <a:pPr algn="ctr"/>
            <a:r>
              <a:rPr lang="en-US" dirty="0"/>
              <a:t>Thankyou</a:t>
            </a:r>
          </a:p>
        </p:txBody>
      </p:sp>
    </p:spTree>
    <p:extLst>
      <p:ext uri="{BB962C8B-B14F-4D97-AF65-F5344CB8AC3E}">
        <p14:creationId xmlns:p14="http://schemas.microsoft.com/office/powerpoint/2010/main" val="2646153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14510</TotalTime>
  <Words>908</Words>
  <Application>Microsoft Office PowerPoint</Application>
  <PresentationFormat>Widescreen</PresentationFormat>
  <Paragraphs>102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Times New Roman</vt:lpstr>
      <vt:lpstr>Office Theme</vt:lpstr>
      <vt:lpstr>Forecasting cryptocurrency price Trends using ARIMA and LSTM</vt:lpstr>
      <vt:lpstr>Introduction</vt:lpstr>
      <vt:lpstr>Problem Statement</vt:lpstr>
      <vt:lpstr> Data Collection and Cleaning</vt:lpstr>
      <vt:lpstr> Exploratory Data Analysis-Trend and Stationarity Insights </vt:lpstr>
      <vt:lpstr>PowerPoint Presentation</vt:lpstr>
      <vt:lpstr>Stationarity Test</vt:lpstr>
      <vt:lpstr>ACF &amp; PACF Analysis for ARIMA parameter Selection</vt:lpstr>
      <vt:lpstr>ARIMA Model Development</vt:lpstr>
      <vt:lpstr>Model Performance </vt:lpstr>
      <vt:lpstr>PowerPoint Presentation</vt:lpstr>
      <vt:lpstr>LSTM Model Development</vt:lpstr>
      <vt:lpstr>LSTM Model Performance</vt:lpstr>
      <vt:lpstr>LSTM Actual vs Predicted graph</vt:lpstr>
      <vt:lpstr>Model Performance (ARIMA vs LSTM)</vt:lpstr>
      <vt:lpstr>Conclusion</vt:lpstr>
      <vt:lpstr>Thankyou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harideep aepuri</dc:creator>
  <cp:lastModifiedBy>harideep aepuri</cp:lastModifiedBy>
  <cp:revision>33</cp:revision>
  <dcterms:created xsi:type="dcterms:W3CDTF">2026-04-01T04:16:22Z</dcterms:created>
  <dcterms:modified xsi:type="dcterms:W3CDTF">2026-05-03T04:52:01Z</dcterms:modified>
</cp:coreProperties>
</file>