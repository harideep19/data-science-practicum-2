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8" r:id="rId1"/>
  </p:sldMasterIdLst>
  <p:sldIdLst>
    <p:sldId id="256" r:id="rId2"/>
    <p:sldId id="258" r:id="rId3"/>
    <p:sldId id="257" r:id="rId4"/>
    <p:sldId id="279" r:id="rId5"/>
    <p:sldId id="261" r:id="rId6"/>
    <p:sldId id="280" r:id="rId7"/>
    <p:sldId id="263" r:id="rId8"/>
    <p:sldId id="281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82" r:id="rId17"/>
    <p:sldId id="283" r:id="rId18"/>
    <p:sldId id="284" r:id="rId19"/>
    <p:sldId id="285" r:id="rId20"/>
    <p:sldId id="286" r:id="rId21"/>
    <p:sldId id="287" r:id="rId22"/>
    <p:sldId id="278" r:id="rId23"/>
    <p:sldId id="28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ideep aepuri" initials="ha" lastIdx="1" clrIdx="0">
    <p:extLst>
      <p:ext uri="{19B8F6BF-5375-455C-9EA6-DF929625EA0E}">
        <p15:presenceInfo xmlns:p15="http://schemas.microsoft.com/office/powerpoint/2012/main" userId="8ea6a74820eae0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7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6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3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3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5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9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7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1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8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27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1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03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15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58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93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7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479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  <p:sldLayoutId id="2147483943" r:id="rId15"/>
    <p:sldLayoutId id="2147483944" r:id="rId16"/>
    <p:sldLayoutId id="214748394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B786-249A-1DAF-6A79-7A16E657E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643302"/>
          </a:xfrm>
        </p:spPr>
        <p:txBody>
          <a:bodyPr>
            <a:noAutofit/>
          </a:bodyPr>
          <a:lstStyle/>
          <a:p>
            <a:r>
              <a:rPr lang="en-US" sz="3200" dirty="0"/>
              <a:t>Forecasting Cryptocurrency Price Trends Using ARIMA and LSTM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9CD89-ED9C-F639-715B-DEE851179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28" y="4547062"/>
            <a:ext cx="2912430" cy="120163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HARIDEEP AEPURI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MSDS Practicum II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18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277" y="134224"/>
            <a:ext cx="10538748" cy="156035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8" y="1375794"/>
            <a:ext cx="10905688" cy="4933566"/>
          </a:xfrm>
        </p:spPr>
        <p:txBody>
          <a:bodyPr>
            <a:normAutofit/>
          </a:bodyPr>
          <a:lstStyle/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cryptocurrency prices is challenging because bitcoin prices will change rapidly due to market demands and external factors.</a:t>
            </a: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predicting bitcoin close prices using 1-minute interval data </a:t>
            </a: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compares both traditional time series models and deep learning models </a:t>
            </a: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external market indicator behavior over BTC data</a:t>
            </a: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 </a:t>
            </a: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F88502-B674-D1FB-578A-562915570600}"/>
              </a:ext>
            </a:extLst>
          </p:cNvPr>
          <p:cNvSpPr/>
          <p:nvPr/>
        </p:nvSpPr>
        <p:spPr>
          <a:xfrm>
            <a:off x="379613" y="4572381"/>
            <a:ext cx="2136371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B98D5C-4A3A-883B-78F6-C202EB5E0399}"/>
              </a:ext>
            </a:extLst>
          </p:cNvPr>
          <p:cNvSpPr/>
          <p:nvPr/>
        </p:nvSpPr>
        <p:spPr>
          <a:xfrm>
            <a:off x="5064576" y="4555984"/>
            <a:ext cx="2301932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Univariate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911F31-77C1-1458-DB75-E054D50D2955}"/>
              </a:ext>
            </a:extLst>
          </p:cNvPr>
          <p:cNvSpPr/>
          <p:nvPr/>
        </p:nvSpPr>
        <p:spPr>
          <a:xfrm>
            <a:off x="7572619" y="4555984"/>
            <a:ext cx="1994362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Multivariate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CDE65C-3DCB-0484-039B-1BEE7FB5FB08}"/>
              </a:ext>
            </a:extLst>
          </p:cNvPr>
          <p:cNvSpPr/>
          <p:nvPr/>
        </p:nvSpPr>
        <p:spPr>
          <a:xfrm>
            <a:off x="9652692" y="4555984"/>
            <a:ext cx="2233352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ARIMA+LSTM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4F577E-614B-B168-6BC0-E5866E192A85}"/>
              </a:ext>
            </a:extLst>
          </p:cNvPr>
          <p:cNvSpPr/>
          <p:nvPr/>
        </p:nvSpPr>
        <p:spPr>
          <a:xfrm>
            <a:off x="2722094" y="4572381"/>
            <a:ext cx="2136371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7D8B-6C35-124E-EEF6-CFEDCC4D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699" y="797388"/>
            <a:ext cx="10515600" cy="80182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C4135-E177-A190-0167-27FAB210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8" y="1728132"/>
            <a:ext cx="5188131" cy="45248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 are highly volatile and prices can change rapidly over the time which makes the price prediction challenging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methods are struggle to capture the sudden changes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volatility.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evaluate the models which can handle both trend and fluctuations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also checks whether the external market like Gold, NASDAQ, and US dollar index will improve bitcoin prediction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3B3B0A4-839A-F3DF-60B7-9323D78ADF03}"/>
              </a:ext>
            </a:extLst>
          </p:cNvPr>
          <p:cNvSpPr/>
          <p:nvPr/>
        </p:nvSpPr>
        <p:spPr>
          <a:xfrm>
            <a:off x="8300086" y="2390834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</a:t>
            </a:r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8059EDB-E782-32D1-8305-5248EF82E13B}"/>
              </a:ext>
            </a:extLst>
          </p:cNvPr>
          <p:cNvSpPr/>
          <p:nvPr/>
        </p:nvSpPr>
        <p:spPr>
          <a:xfrm>
            <a:off x="9048412" y="3048000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82EF22-FBC5-2AD3-6D75-3849C046BC61}"/>
              </a:ext>
            </a:extLst>
          </p:cNvPr>
          <p:cNvSpPr/>
          <p:nvPr/>
        </p:nvSpPr>
        <p:spPr>
          <a:xfrm>
            <a:off x="8300086" y="3454849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challenging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CFEBC9-14A3-031A-36C9-18D04CC71780}"/>
              </a:ext>
            </a:extLst>
          </p:cNvPr>
          <p:cNvSpPr/>
          <p:nvPr/>
        </p:nvSpPr>
        <p:spPr>
          <a:xfrm>
            <a:off x="8300086" y="4527253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</a:t>
            </a:r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1965E6D-555C-9B62-A650-6DA1EEC51756}"/>
              </a:ext>
            </a:extLst>
          </p:cNvPr>
          <p:cNvSpPr/>
          <p:nvPr/>
        </p:nvSpPr>
        <p:spPr>
          <a:xfrm>
            <a:off x="9108390" y="4105330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1C340A-8C21-5A45-4F6A-A133E5F5350C}"/>
              </a:ext>
            </a:extLst>
          </p:cNvPr>
          <p:cNvSpPr/>
          <p:nvPr/>
        </p:nvSpPr>
        <p:spPr>
          <a:xfrm>
            <a:off x="8363322" y="5599658"/>
            <a:ext cx="1811867" cy="653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model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ECE23DF-7687-2AF0-6782-ADE197F53854}"/>
              </a:ext>
            </a:extLst>
          </p:cNvPr>
          <p:cNvSpPr/>
          <p:nvPr/>
        </p:nvSpPr>
        <p:spPr>
          <a:xfrm>
            <a:off x="9125587" y="5218658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47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AD79-87C8-79A6-CC9C-078BDAA2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20242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1F78-6B50-D89D-7DE8-D4A667526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44" y="1602297"/>
            <a:ext cx="10881360" cy="470622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from Binance API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timestamp conversion of data to date and time format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variables like OHLC and volume to numeric format and removed the unnecessary columns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and missing values in data and prepared data for ready for model training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Resampled 1-minute BTC Interval to daily close price for external market indicators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BTC daily close prices with external market indicators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56D86F-876E-B0F6-4B8E-F7A85B580344}"/>
              </a:ext>
            </a:extLst>
          </p:cNvPr>
          <p:cNvSpPr/>
          <p:nvPr/>
        </p:nvSpPr>
        <p:spPr>
          <a:xfrm>
            <a:off x="1096231" y="2025713"/>
            <a:ext cx="2044931" cy="107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86,341</a:t>
            </a:r>
            <a:endParaRPr lang="en-US" sz="3200" dirty="0"/>
          </a:p>
          <a:p>
            <a:pPr algn="ctr"/>
            <a:r>
              <a:rPr lang="en-US" sz="1400" dirty="0"/>
              <a:t>One –minute interval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5B8E31-C7DA-BF29-1216-4B0388EFD552}"/>
              </a:ext>
            </a:extLst>
          </p:cNvPr>
          <p:cNvSpPr/>
          <p:nvPr/>
        </p:nvSpPr>
        <p:spPr>
          <a:xfrm>
            <a:off x="7938548" y="2025713"/>
            <a:ext cx="2044931" cy="107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 Fields</a:t>
            </a:r>
          </a:p>
          <a:p>
            <a:pPr algn="ctr"/>
            <a:r>
              <a:rPr lang="en-US" sz="1400" dirty="0"/>
              <a:t>Open, High, Low, close, volume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A567B2-1D0F-8F02-A912-8C4BD814FC85}"/>
              </a:ext>
            </a:extLst>
          </p:cNvPr>
          <p:cNvSpPr/>
          <p:nvPr/>
        </p:nvSpPr>
        <p:spPr>
          <a:xfrm>
            <a:off x="4651198" y="2025713"/>
            <a:ext cx="2044931" cy="107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60 Days</a:t>
            </a:r>
          </a:p>
          <a:p>
            <a:pPr algn="ctr"/>
            <a:r>
              <a:rPr lang="en-US" sz="1600" dirty="0"/>
              <a:t>Jan 30-March 31</a:t>
            </a:r>
          </a:p>
        </p:txBody>
      </p:sp>
    </p:spTree>
    <p:extLst>
      <p:ext uri="{BB962C8B-B14F-4D97-AF65-F5344CB8AC3E}">
        <p14:creationId xmlns:p14="http://schemas.microsoft.com/office/powerpoint/2010/main" val="300701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4A47-78C4-3F90-A465-03480E7C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761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227E-D991-18F4-328D-9D4960E0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76" y="1593908"/>
            <a:ext cx="3160222" cy="5169449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based features are created for capturing the previous bitcoin price pattern movements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the rolling statistical like moving averages, volatility measurements which helps model to capture short term and long-term trends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market trends and momentum learning technical indicators are added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select the top important features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applied as feature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FA64F-4561-9B15-03E5-04D171471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79" y="1674771"/>
            <a:ext cx="6675121" cy="426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3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C84B-01A4-8E43-08E3-1391BBE6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F97B-BD49-E1E5-964E-FED8CA7E6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083597"/>
            <a:ext cx="3599025" cy="402336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86,341 one-minute records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days from January 30 ,2026 to march 16 , 2026 considered as training set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days from march 16, 2026 to march 31, 2026 as test data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64,741 training observations and 21,600 testing observations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set was kept as true out-of-sample data for final model evaluation.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4F5BD-ED23-7F85-2A64-9FA812C6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601" y="2281426"/>
            <a:ext cx="6921731" cy="362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3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3284-FE2B-B879-3F37-98D70658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00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Training and Prediction Results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402AD-DC7C-6033-65DA-783F6BE0B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127"/>
            <a:ext cx="10515600" cy="1853967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p,d,q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=(2,1,2) was selected as final model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auto_arima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trained on 45 days training set and 1 step rolling ahead prediction was applied on 15- day test 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produced MAE $30.18 , RMSE 46.46 ,MAPE =0.0433% and directional accuracy =49.6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4FEBC-A4AD-164A-134A-85CF8F0C1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1609"/>
            <a:ext cx="10307782" cy="321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4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9647-0DEA-3AA3-E5A2-89B93756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8430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B7CCB2-D8D1-552A-B6F8-C1707A250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58" y="1537855"/>
            <a:ext cx="4100749" cy="378229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trained using BTC closed price with timestamp as input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configured with daily and weekly seasonality and tested on 15-day test set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: $ 8,897.93, RMSE : $ 10,155.09, MAPE : 13.0135%  and Dir. Acc : 50.1%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happened because one-minute Bitcoin data does not have stable seasonal patterns.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shows that one-minute bitcoin data does not have stable seasonal patterns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363FC9-1649-8F18-1612-19845567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112" y="1717380"/>
            <a:ext cx="7254496" cy="34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9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AF97-7BC1-8947-CC9A-450BF32E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LSTM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E21D-F22C-A89C-A3FF-9FE87611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56" y="2081432"/>
            <a:ext cx="5229498" cy="4351338"/>
          </a:xfrm>
        </p:spPr>
        <p:txBody>
          <a:bodyPr>
            <a:no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normalization was applied to make the large bitcoin prices on same range which helps LSTM to learn effectively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sequential samples using 60-step sliding window  to predict the next price movements 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two LSTM layers 100 hidden units in first layer and 50 hidden units in second layer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 activation which converts on range of -1 and 1 which helps LSTM to learn non linear complex patterns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overfitting added a dropout regularization (0.1)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for up to 25 epochs using rolling sequence forecasting 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graph both training and validation loss are decreasing which indicates not overfitting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763BB-5E56-3538-1BF5-2DD581F8D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296" y="2207267"/>
            <a:ext cx="5830707" cy="373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6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BBDB-D19B-391F-8B10-DE1B50B8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65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LSTM  Actual vs Predicted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5BE2-A3EF-7C31-9C3C-DC5535A6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08683"/>
            <a:ext cx="10361023" cy="2231471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LSTM prediction follows the actual bitcoin prices very closely which is capturing the non-linear market behavior.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follows the trend but not capturing the rapid fluctuations fully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prediction lag was observed during sudden price spikes and rapid market changes.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learned well in capturing upwards and downwards trend but struggled to capture many spikes </a:t>
            </a:r>
          </a:p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Univariate: MAE = 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64.52$ ,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96.26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MAPE = 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0.0928%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Dir. Accuracy= 48.3%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28263-045F-434B-8A25-6990B82AE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3603073"/>
            <a:ext cx="10361023" cy="29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732D-F89A-72B8-9493-A040C378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LSTM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A9AD3-9F99-7875-FF8D-E03B8D9D2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34097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top selected feature engineering features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lag features , moving averages , volatility indicators and technical indicators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learned using multiple market related features which helps Multivariate LSTM learn better then Univariate LSTM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DA0A-1830-797D-F830-A0E4FA765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1935921"/>
            <a:ext cx="6937694" cy="375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6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5B61-98B4-BD8C-AFB0-839B7A72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6837"/>
            <a:ext cx="10353761" cy="880844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LSTM Actual vs Predicted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1692-9FFC-E701-35CF-215BA58BF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403"/>
            <a:ext cx="10515600" cy="21895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LSTM used the top 20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selected features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follows the actual BTC closely and capturing the general up and down movements but missing some sharp spikes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model uses additional technical indicators but performance is not improved then univariate LSTM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features added complexity and noise apart from strong predictive signal for one-minute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forecasting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Multivariate: MAE = $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68.91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103.54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=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0.0990%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Dir. Accuracy= 48.8%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87B2A-AA77-87EA-9084-3B505A54B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69" y="3347207"/>
            <a:ext cx="10293531" cy="342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22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FAEE-855E-C346-30AF-F10D4051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2326"/>
            <a:ext cx="10353761" cy="125614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ARIMA+LSTM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BF32-E019-3A51-9E89-D857F9048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70371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ARIMA model was used for linear bitcoin prices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the ARIMA residuals to identify errors not captured by statistical model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3-sigma method residual outliers are clipped  and residuals are scaled between -1 and 1 for stable LSTM learning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was trained a 60-step residual was created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was trained on ARIMA residuals to learn non linear patterns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4644D2-D9DB-AAED-8334-FFDADBFA2549}"/>
              </a:ext>
            </a:extLst>
          </p:cNvPr>
          <p:cNvSpPr/>
          <p:nvPr/>
        </p:nvSpPr>
        <p:spPr>
          <a:xfrm>
            <a:off x="9248500" y="1528470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Bitcoin price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5B8E04-F140-CE25-36C1-DC42525DF0FB}"/>
              </a:ext>
            </a:extLst>
          </p:cNvPr>
          <p:cNvSpPr/>
          <p:nvPr/>
        </p:nvSpPr>
        <p:spPr>
          <a:xfrm>
            <a:off x="9248502" y="2401343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ARIMA Forecast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34E51A-8755-45BC-65C7-F1919C260890}"/>
              </a:ext>
            </a:extLst>
          </p:cNvPr>
          <p:cNvSpPr/>
          <p:nvPr/>
        </p:nvSpPr>
        <p:spPr>
          <a:xfrm>
            <a:off x="9248501" y="3341962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Residual Errors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74E5B7-5FB3-539B-6069-4EC25959A735}"/>
              </a:ext>
            </a:extLst>
          </p:cNvPr>
          <p:cNvSpPr/>
          <p:nvPr/>
        </p:nvSpPr>
        <p:spPr>
          <a:xfrm>
            <a:off x="9248500" y="4223659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LSTM Residual Learning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901883-60DA-92E0-B38B-590FB942B915}"/>
              </a:ext>
            </a:extLst>
          </p:cNvPr>
          <p:cNvSpPr/>
          <p:nvPr/>
        </p:nvSpPr>
        <p:spPr>
          <a:xfrm>
            <a:off x="9248500" y="5105356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Hybrid Forecast</a:t>
            </a:r>
          </a:p>
        </p:txBody>
      </p:sp>
    </p:spTree>
    <p:extLst>
      <p:ext uri="{BB962C8B-B14F-4D97-AF65-F5344CB8AC3E}">
        <p14:creationId xmlns:p14="http://schemas.microsoft.com/office/powerpoint/2010/main" val="176191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6028-09B0-53B7-8454-2819BC27E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 Actual vs Predicted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8036-869A-44F9-58AF-F5449A39B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234"/>
            <a:ext cx="10515600" cy="2098766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is following the overall bitcoin prices very closely but performance is similar to ARIMA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 captures most of useful patterns and LSTM component of the Hybrid model did not learn additional meaningful patterns from the ARIMA residuals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limited non-linear patterns are left for LSTM component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ARIMA+LSTM: MAE = $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30.21,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46.48 MAPE = 0.0433% Dir. Accuracy= 49.6%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F8C73-AFB5-F248-37EB-797B569EB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88" y="3567996"/>
            <a:ext cx="10828910" cy="298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00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A00D-A328-70AE-E71B-1CF76306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Model’s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1110-8231-52DD-4724-AAA5B677E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55723"/>
            <a:ext cx="4935583" cy="400964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ARIMA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low error values and better directional accuracy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stable performance combining ARIMA and LSTM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performs slightly better than Multivariate across evaluation metrics and directional accuracy is better for multivariate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84F30C-0842-0013-6C5D-CCB02BB4B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16388"/>
              </p:ext>
            </p:extLst>
          </p:nvPr>
        </p:nvGraphicFramePr>
        <p:xfrm>
          <a:off x="6031684" y="1841149"/>
          <a:ext cx="5721292" cy="3550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51">
                  <a:extLst>
                    <a:ext uri="{9D8B030D-6E8A-4147-A177-3AD203B41FA5}">
                      <a16:colId xmlns:a16="http://schemas.microsoft.com/office/drawing/2014/main" val="314902714"/>
                    </a:ext>
                  </a:extLst>
                </a:gridCol>
                <a:gridCol w="1115736">
                  <a:extLst>
                    <a:ext uri="{9D8B030D-6E8A-4147-A177-3AD203B41FA5}">
                      <a16:colId xmlns:a16="http://schemas.microsoft.com/office/drawing/2014/main" val="1196277121"/>
                    </a:ext>
                  </a:extLst>
                </a:gridCol>
                <a:gridCol w="1174458">
                  <a:extLst>
                    <a:ext uri="{9D8B030D-6E8A-4147-A177-3AD203B41FA5}">
                      <a16:colId xmlns:a16="http://schemas.microsoft.com/office/drawing/2014/main" val="3531977658"/>
                    </a:ext>
                  </a:extLst>
                </a:gridCol>
                <a:gridCol w="1157681">
                  <a:extLst>
                    <a:ext uri="{9D8B030D-6E8A-4147-A177-3AD203B41FA5}">
                      <a16:colId xmlns:a16="http://schemas.microsoft.com/office/drawing/2014/main" val="3891479070"/>
                    </a:ext>
                  </a:extLst>
                </a:gridCol>
                <a:gridCol w="864066">
                  <a:extLst>
                    <a:ext uri="{9D8B030D-6E8A-4147-A177-3AD203B41FA5}">
                      <a16:colId xmlns:a16="http://schemas.microsoft.com/office/drawing/2014/main" val="3523917856"/>
                    </a:ext>
                  </a:extLst>
                </a:gridCol>
              </a:tblGrid>
              <a:tr h="437555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 Acc%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464822"/>
                  </a:ext>
                </a:extLst>
              </a:tr>
              <a:tr h="437555">
                <a:tc>
                  <a:txBody>
                    <a:bodyPr/>
                    <a:lstStyle/>
                    <a:p>
                      <a:r>
                        <a:rPr lang="en-US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382680"/>
                  </a:ext>
                </a:extLst>
              </a:tr>
              <a:tr h="297886">
                <a:tc>
                  <a:txBody>
                    <a:bodyPr/>
                    <a:lstStyle/>
                    <a:p>
                      <a:r>
                        <a:rPr lang="en-US" dirty="0"/>
                        <a:t>Hybrid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208837"/>
                  </a:ext>
                </a:extLst>
              </a:tr>
              <a:tr h="297886">
                <a:tc>
                  <a:txBody>
                    <a:bodyPr/>
                    <a:lstStyle/>
                    <a:p>
                      <a:r>
                        <a:rPr lang="en-US" dirty="0"/>
                        <a:t>LSTM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univariate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883869"/>
                  </a:ext>
                </a:extLst>
              </a:tr>
              <a:tr h="755232">
                <a:tc>
                  <a:txBody>
                    <a:bodyPr/>
                    <a:lstStyle/>
                    <a:p>
                      <a:r>
                        <a:rPr lang="en-US" dirty="0"/>
                        <a:t>LSTM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20325"/>
                  </a:ext>
                </a:extLst>
              </a:tr>
              <a:tr h="437555">
                <a:tc>
                  <a:txBody>
                    <a:bodyPr/>
                    <a:lstStyle/>
                    <a:p>
                      <a:r>
                        <a:rPr lang="en-US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8,897.93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10,155.09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13.0135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50.1%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98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356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E9EA-634D-EACA-FF6C-358BE21C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2108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Walk-Forward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CEAC-1A46-82A9-F159-C6E411ADE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02965"/>
            <a:ext cx="5386337" cy="4545434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Walk-forward cross validation was used to check the stability of ARIMA across different time windows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folds each fold has 8,634 rows which is 10% of data in each fold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fold model trained on past data to test on next unseen data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windows was expanded on each fold that allows model to learn more from historical data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MAE is improved from fold 1 37.28  to fold 4 26.80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walk forward validation results show that ARIMA model performances are stable across time and model is not dependent on single train test split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30C302-EE8C-F7A9-D177-26277BA06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193163"/>
              </p:ext>
            </p:extLst>
          </p:nvPr>
        </p:nvGraphicFramePr>
        <p:xfrm>
          <a:off x="6769915" y="2269911"/>
          <a:ext cx="4774268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87134">
                  <a:extLst>
                    <a:ext uri="{9D8B030D-6E8A-4147-A177-3AD203B41FA5}">
                      <a16:colId xmlns:a16="http://schemas.microsoft.com/office/drawing/2014/main" val="3033880547"/>
                    </a:ext>
                  </a:extLst>
                </a:gridCol>
                <a:gridCol w="2387134">
                  <a:extLst>
                    <a:ext uri="{9D8B030D-6E8A-4147-A177-3AD203B41FA5}">
                      <a16:colId xmlns:a16="http://schemas.microsoft.com/office/drawing/2014/main" val="3764305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495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64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76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245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91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407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427E-4735-692A-ACDD-8E45432D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4893"/>
            <a:ext cx="10353761" cy="94795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Multi-Horizon Forecast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44115-96E6-A15F-5696-CAA9C6BF9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07" y="1392572"/>
            <a:ext cx="5066952" cy="4286775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Multi-Horizon for ARIMA and LSTM at different levels like 1,5,10,and 30 minutes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60-minute window for LSTM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showed monotonically increasing MAE with horizon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maintained a consistent advantage over LSTM at all horizons. At H = 1, ARIMA’s MAE was approximately 48% of LSTM’s; at H = 30, it was approximately 77% of LSTM’s,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performed better then LSTM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error is very small when it compare on overall bitcoin prices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265FEE-220D-E44E-090C-99553530E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744299"/>
              </p:ext>
            </p:extLst>
          </p:nvPr>
        </p:nvGraphicFramePr>
        <p:xfrm>
          <a:off x="5989739" y="1667702"/>
          <a:ext cx="566637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88792">
                  <a:extLst>
                    <a:ext uri="{9D8B030D-6E8A-4147-A177-3AD203B41FA5}">
                      <a16:colId xmlns:a16="http://schemas.microsoft.com/office/drawing/2014/main" val="3980411247"/>
                    </a:ext>
                  </a:extLst>
                </a:gridCol>
                <a:gridCol w="1888792">
                  <a:extLst>
                    <a:ext uri="{9D8B030D-6E8A-4147-A177-3AD203B41FA5}">
                      <a16:colId xmlns:a16="http://schemas.microsoft.com/office/drawing/2014/main" val="1906888937"/>
                    </a:ext>
                  </a:extLst>
                </a:gridCol>
                <a:gridCol w="1888792">
                  <a:extLst>
                    <a:ext uri="{9D8B030D-6E8A-4147-A177-3AD203B41FA5}">
                      <a16:colId xmlns:a16="http://schemas.microsoft.com/office/drawing/2014/main" val="2921817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ARIMA(MAE)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LSTM(MAE)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739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49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8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2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215.81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80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418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A908-D1F5-9B66-F659-6F660230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5900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3-Hour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3ED8-A858-AF08-6F5C-D5F18123F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341" y="1350627"/>
            <a:ext cx="5293454" cy="2608979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3-hour window input, model used previous 180 minutes to predict future  bitcoin prices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got increased from 53.61 to 168.24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better for short-term horizons then long-term horizons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high volatility of bitcoin longer horizon predictions becomes difficult.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the red line is shows model has a real predictive signal for direction.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13BF4B-1D6C-4498-B06D-8E48986C5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766595"/>
              </p:ext>
            </p:extLst>
          </p:nvPr>
        </p:nvGraphicFramePr>
        <p:xfrm>
          <a:off x="6244207" y="1350627"/>
          <a:ext cx="5189988" cy="22521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996">
                  <a:extLst>
                    <a:ext uri="{9D8B030D-6E8A-4147-A177-3AD203B41FA5}">
                      <a16:colId xmlns:a16="http://schemas.microsoft.com/office/drawing/2014/main" val="1631554364"/>
                    </a:ext>
                  </a:extLst>
                </a:gridCol>
                <a:gridCol w="1729996">
                  <a:extLst>
                    <a:ext uri="{9D8B030D-6E8A-4147-A177-3AD203B41FA5}">
                      <a16:colId xmlns:a16="http://schemas.microsoft.com/office/drawing/2014/main" val="4193510141"/>
                    </a:ext>
                  </a:extLst>
                </a:gridCol>
                <a:gridCol w="1729996">
                  <a:extLst>
                    <a:ext uri="{9D8B030D-6E8A-4147-A177-3AD203B41FA5}">
                      <a16:colId xmlns:a16="http://schemas.microsoft.com/office/drawing/2014/main" val="3649994660"/>
                    </a:ext>
                  </a:extLst>
                </a:gridCol>
              </a:tblGrid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DirACC</a:t>
                      </a:r>
                      <a:r>
                        <a:rPr lang="en-US" dirty="0"/>
                        <a:t>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793051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961956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440992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923104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8363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FD24689-71BB-70C8-97A5-58D36750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5" y="3707936"/>
            <a:ext cx="10779854" cy="287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0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3F27-10BA-66DD-F129-15357D7D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500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Multi-Day forecast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D2690-74E9-E722-7521-A8558EF35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29" y="1459685"/>
            <a:ext cx="4647500" cy="49830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evaluated across different days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the model stability over longer periods multi-day forecast was added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1-min bitcoin data also used rolling 1 step ahead for real-time prediction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ARIMA archived lowest MAE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captures linear patterns and short-term prices Hybrid is designed to capture linear and non-linear patterns 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264FB0-7168-3992-CA60-AE91B0220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736929"/>
              </p:ext>
            </p:extLst>
          </p:nvPr>
        </p:nvGraphicFramePr>
        <p:xfrm>
          <a:off x="5733326" y="2146863"/>
          <a:ext cx="6086760" cy="3608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158">
                  <a:extLst>
                    <a:ext uri="{9D8B030D-6E8A-4147-A177-3AD203B41FA5}">
                      <a16:colId xmlns:a16="http://schemas.microsoft.com/office/drawing/2014/main" val="3980435100"/>
                    </a:ext>
                  </a:extLst>
                </a:gridCol>
                <a:gridCol w="1006592">
                  <a:extLst>
                    <a:ext uri="{9D8B030D-6E8A-4147-A177-3AD203B41FA5}">
                      <a16:colId xmlns:a16="http://schemas.microsoft.com/office/drawing/2014/main" val="1061411018"/>
                    </a:ext>
                  </a:extLst>
                </a:gridCol>
                <a:gridCol w="1020218">
                  <a:extLst>
                    <a:ext uri="{9D8B030D-6E8A-4147-A177-3AD203B41FA5}">
                      <a16:colId xmlns:a16="http://schemas.microsoft.com/office/drawing/2014/main" val="327172846"/>
                    </a:ext>
                  </a:extLst>
                </a:gridCol>
                <a:gridCol w="1015123">
                  <a:extLst>
                    <a:ext uri="{9D8B030D-6E8A-4147-A177-3AD203B41FA5}">
                      <a16:colId xmlns:a16="http://schemas.microsoft.com/office/drawing/2014/main" val="2478594147"/>
                    </a:ext>
                  </a:extLst>
                </a:gridCol>
                <a:gridCol w="963669">
                  <a:extLst>
                    <a:ext uri="{9D8B030D-6E8A-4147-A177-3AD203B41FA5}">
                      <a16:colId xmlns:a16="http://schemas.microsoft.com/office/drawing/2014/main" val="201266270"/>
                    </a:ext>
                  </a:extLst>
                </a:gridCol>
              </a:tblGrid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200621"/>
                  </a:ext>
                </a:extLst>
              </a:tr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07179"/>
                  </a:ext>
                </a:extLst>
              </a:tr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3427.51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6044.10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8897.93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28772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r>
                        <a:rPr lang="en-US" dirty="0"/>
                        <a:t>LSTM(Univariate)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322935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r>
                        <a:rPr lang="en-US" dirty="0"/>
                        <a:t>LSTM(Multivariate)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803946"/>
                  </a:ext>
                </a:extLst>
              </a:tr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398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E320998-8129-C653-ACF0-F5B606E5859B}"/>
              </a:ext>
            </a:extLst>
          </p:cNvPr>
          <p:cNvSpPr txBox="1"/>
          <p:nvPr/>
        </p:nvSpPr>
        <p:spPr>
          <a:xfrm>
            <a:off x="5573936" y="1514563"/>
            <a:ext cx="6181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MULTI-DAY FORECAST STABILITY: MAE ($) BY EVALUATION WINDOW </a:t>
            </a:r>
          </a:p>
        </p:txBody>
      </p:sp>
    </p:spTree>
    <p:extLst>
      <p:ext uri="{BB962C8B-B14F-4D97-AF65-F5344CB8AC3E}">
        <p14:creationId xmlns:p14="http://schemas.microsoft.com/office/powerpoint/2010/main" val="2170069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CDA0-196C-554F-FECE-30F346AD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8782"/>
            <a:ext cx="10353761" cy="65434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D6232-AB20-A091-7EC4-D192D3428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93" y="1098958"/>
            <a:ext cx="11652308" cy="27851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is to check the external market indicators will help bitcoin forecasting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resampled to daily close price and aligned with GOLD,NASDAQ and DXY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NASDAQ had a strong correlation with BTC 0.617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 showed a weak correlation and USD resulted in negative correlation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BTC and NASDAQ showed positive relationship among them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39219-0507-4818-4E27-DD4B3818C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06" y="4118994"/>
            <a:ext cx="11005457" cy="24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16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4CB4-B446-04E6-3BD3-FE66C7AC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4892"/>
            <a:ext cx="10353761" cy="10234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Multi-Market forecasting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8D74-F41E-4299-B9DE-1742E82CA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58350"/>
            <a:ext cx="9555666" cy="217065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Multi-market daily LSTM BTC + Gold + NASDAQ + DXY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two models BTC-only LSTM and Multi-market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BTC-only LSTM MAE: $2,288.89 .12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baseline MAE: $1,867.11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Multi-market LSTM MAE: $2,131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multi-market analysis shows the bitcoin forecasting can improve when the external market indicators are added.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F8FAA-767D-1609-AD9E-F7784059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76" y="3582354"/>
            <a:ext cx="10530980" cy="313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29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BE84-082D-D7B9-8087-F9A546F1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C4F4-0E98-4F31-378E-CBF51A098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compares five forecasting models for bitcoin price prediction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ARIMA(2,1,2) results lower error values among all other models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models followed trends but resulted in higher error values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Multi-Horizon analysis shows as horizon increases error values are increasing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market indicators improves bitcoin predictions compared with BTC only LSTM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analysis describes that bitcoin price prediction is challenging and ARIMA remain best for short-term predictions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59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B4525-0DF4-072A-B02F-71B0066EA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20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8013</TotalTime>
  <Words>1655</Words>
  <Application>Microsoft Office PowerPoint</Application>
  <PresentationFormat>Widescreen</PresentationFormat>
  <Paragraphs>265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Bookman Old Style</vt:lpstr>
      <vt:lpstr>Rockwell</vt:lpstr>
      <vt:lpstr>Times New Roman</vt:lpstr>
      <vt:lpstr>Damask</vt:lpstr>
      <vt:lpstr>Forecasting Cryptocurrency Price Trends Using ARIMA and LSTM </vt:lpstr>
      <vt:lpstr>Introduction</vt:lpstr>
      <vt:lpstr>Problem Statement</vt:lpstr>
      <vt:lpstr>Data Collection and cleaning</vt:lpstr>
      <vt:lpstr>Feature Engineering </vt:lpstr>
      <vt:lpstr>Train/Test split</vt:lpstr>
      <vt:lpstr>ARIMA Training and Prediction Results</vt:lpstr>
      <vt:lpstr>Prophet Model</vt:lpstr>
      <vt:lpstr>Univariate LSTM Implementation</vt:lpstr>
      <vt:lpstr>Univariate LSTM  Actual vs Predicted </vt:lpstr>
      <vt:lpstr>Multivariate LSTM Implementation</vt:lpstr>
      <vt:lpstr>Multivariate LSTM Actual vs Predicted</vt:lpstr>
      <vt:lpstr>Hybrid Model ARIMA+LSTM</vt:lpstr>
      <vt:lpstr>Hybrid model  Actual vs Predicted </vt:lpstr>
      <vt:lpstr>Model’s comparison</vt:lpstr>
      <vt:lpstr>Walk-Forward cross-validation</vt:lpstr>
      <vt:lpstr>Multi-Horizon Forecast Analysis</vt:lpstr>
      <vt:lpstr>LSTM 3-Hour Window</vt:lpstr>
      <vt:lpstr>Multi-Day forecast </vt:lpstr>
      <vt:lpstr>Cross-Market Analysis</vt:lpstr>
      <vt:lpstr>Multi-Market forecasting result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harideep aepuri</dc:creator>
  <cp:lastModifiedBy>harideep aepuri</cp:lastModifiedBy>
  <cp:revision>19</cp:revision>
  <dcterms:created xsi:type="dcterms:W3CDTF">2026-05-18T15:36:38Z</dcterms:created>
  <dcterms:modified xsi:type="dcterms:W3CDTF">2026-06-02T17:49:18Z</dcterms:modified>
</cp:coreProperties>
</file>